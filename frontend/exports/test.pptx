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1F4E79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360152" cy="2286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400" b="1">
                <a:solidFill>
                  <a:srgbClr val="FFFFFF"/>
                </a:solidFill>
                <a:latin typeface="Calibri"/>
              </a:defRPr>
            </a:pPr>
            <a:r>
              <a:t>Bao Cao PPTX</a:t>
            </a:r>
          </a:p>
          <a:p>
            <a:pPr algn="ctr">
              <a:defRPr sz="1800">
                <a:solidFill>
                  <a:srgbClr val="DCDCDC"/>
                </a:solidFill>
                <a:latin typeface="Calibri"/>
              </a:defRPr>
            </a:pPr>
            <a:r>
              <a:t>Báo cáo tự động tạo bởi Hệ thống AI | Ngày tạo: 2026-06-11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Executive Summary / Tóm tắt Dự án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Hệ thống phân tích tài chính ghi nhận sự tăng trưởng ổn định của các doanh nghiệp trụ cột FPT, VNM và HDB trong giai đoạn 2023 - 2025.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FPT dẫn đầu về tốc độ tăng trưởng doanh thu nhờ mảng xuất khẩu phần mềm và chuyển đổi số toàn cầu phát triển mạnh mẽ.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VNM duy trì vị thế dẫn đầu thị trường sữa với dòng tiền hoạt động cực kỳ lành mạnh và tỷ lệ chi trả cổ tức cao, ổn định.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HDBank thể hiện hiệu quả hoạt động vượt trội với sự gia tăng mạnh mẽ của tổng tài sản và kiểm soát tốt chất lượng nợ xấu.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Báo cáo này đưa ra mô phỏng tài chính và các khuyến nghị chiến lược nhằm tối ưu hóa danh mục đầu tư trong các năm tới.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Financial Comparison / So sánh Tài chính 2024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914400" y="1645920"/>
          <a:ext cx="10360152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90038"/>
                <a:gridCol w="2590038"/>
                <a:gridCol w="2590038"/>
                <a:gridCol w="2590038"/>
              </a:tblGrid>
              <a:tr h="685800"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Chỉ tiêu (Tỷ VNĐ)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FPT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VNM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300" b="1">
                          <a:solidFill>
                            <a:srgbClr val="FFFFFF"/>
                          </a:solidFill>
                          <a:latin typeface="Calibri"/>
                        </a:defRPr>
                      </a:pPr>
                      <a:r>
                        <a:t>HDB</a:t>
                      </a:r>
                    </a:p>
                  </a:txBody>
                  <a:tcPr>
                    <a:solidFill>
                      <a:srgbClr val="1F4E79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Doanh thu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62,000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29,000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Giá vốn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37,200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17,400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Lợi nhuận gộp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24,800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11,600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Chi phí hoạt động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14,000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16,000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7,000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 algn="ct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Lợi nhuận thuần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10,000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8,800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  <a:tc>
                  <a:txBody>
                    <a:bodyPr/>
                    <a:lstStyle/>
                    <a:p>
                      <a:pPr algn="r">
                        <a:defRPr sz="1300">
                          <a:solidFill>
                            <a:srgbClr val="333333"/>
                          </a:solidFill>
                          <a:latin typeface="Calibri"/>
                        </a:defRPr>
                      </a:pPr>
                      <a:r>
                        <a:t>4,600</a:t>
                      </a:r>
                    </a:p>
                  </a:txBody>
                  <a:tcPr>
                    <a:solidFill>
                      <a:srgbClr val="F5F7FA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548640"/>
            <a:ext cx="1036015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1F4E79"/>
                </a:solidFill>
                <a:latin typeface="Calibri"/>
              </a:defRPr>
            </a:pPr>
            <a:r>
              <a:t>Strategic Recommendations / Khuyến nghị Chiến lược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645920"/>
            <a:ext cx="10360152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Tăng tỷ trọng đối với FPT: Triển vọng tăng trưởng doanh thu bền vững từ chuyển đổi số toàn cầu và AI mang lại động lực tăng giá mạnh mẽ.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Nắm giữ đối với VNM: Đây là nguồn phòng thủ danh mục lý tưởng nhờ dòng tiền dồi dào và chính sách cổ tức cao trong giai đoạn thị trường biến động.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Theo dõi mua đối với HDB: Tốc độ tăng trưởng tín dụng cao đi kèm với quản trị rủi ro tốt giúp HDBank trở thành cơ hội đầu tư tài chính ngân hàng hấp dẫn.</a:t>
            </a:r>
          </a:p>
          <a:p>
            <a:pPr>
              <a:spcAft>
                <a:spcPts val="1400"/>
              </a:spcAft>
              <a:defRPr sz="1600">
                <a:solidFill>
                  <a:srgbClr val="333333"/>
                </a:solidFill>
                <a:latin typeface="Calibri"/>
              </a:defRPr>
            </a:pPr>
            <a:r>
              <a:t>• Đa dạng hóa danh mục: Phân bổ tài sản hợp lý giữa các nhóm ngành Công nghệ, Tiêu dùng và Tài chính để tối thiểu hóa rủi ro phi hệ thống.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